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World Bold" charset="1" panose="020B0800040000020004"/>
      <p:regular r:id="rId17"/>
    </p:embeddedFon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  <p:embeddedFont>
      <p:font typeface="Times New Roman MT" charset="1" panose="020305020704050203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55344" y="1028700"/>
            <a:ext cx="8654455" cy="8229600"/>
          </a:xfrm>
          <a:custGeom>
            <a:avLst/>
            <a:gdLst/>
            <a:ahLst/>
            <a:cxnLst/>
            <a:rect r="r" b="b" t="t" l="l"/>
            <a:pathLst>
              <a:path h="8229600" w="8654455">
                <a:moveTo>
                  <a:pt x="0" y="0"/>
                </a:moveTo>
                <a:lnTo>
                  <a:pt x="8654455" y="0"/>
                </a:lnTo>
                <a:lnTo>
                  <a:pt x="86544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1550" y="6640373"/>
            <a:ext cx="3298908" cy="720141"/>
            <a:chOff x="0" y="0"/>
            <a:chExt cx="868848" cy="1896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8848" cy="189667"/>
            </a:xfrm>
            <a:custGeom>
              <a:avLst/>
              <a:gdLst/>
              <a:ahLst/>
              <a:cxnLst/>
              <a:rect r="r" b="b" t="t" l="l"/>
              <a:pathLst>
                <a:path h="189667" w="868848">
                  <a:moveTo>
                    <a:pt x="94833" y="0"/>
                  </a:moveTo>
                  <a:lnTo>
                    <a:pt x="774015" y="0"/>
                  </a:lnTo>
                  <a:cubicBezTo>
                    <a:pt x="826390" y="0"/>
                    <a:pt x="868848" y="42458"/>
                    <a:pt x="868848" y="94833"/>
                  </a:cubicBezTo>
                  <a:lnTo>
                    <a:pt x="868848" y="94833"/>
                  </a:lnTo>
                  <a:cubicBezTo>
                    <a:pt x="868848" y="119985"/>
                    <a:pt x="858857" y="144106"/>
                    <a:pt x="841072" y="161891"/>
                  </a:cubicBezTo>
                  <a:cubicBezTo>
                    <a:pt x="823288" y="179675"/>
                    <a:pt x="799166" y="189667"/>
                    <a:pt x="774015" y="189667"/>
                  </a:cubicBezTo>
                  <a:lnTo>
                    <a:pt x="94833" y="189667"/>
                  </a:lnTo>
                  <a:cubicBezTo>
                    <a:pt x="69682" y="189667"/>
                    <a:pt x="45561" y="179675"/>
                    <a:pt x="27776" y="161891"/>
                  </a:cubicBezTo>
                  <a:cubicBezTo>
                    <a:pt x="9991" y="144106"/>
                    <a:pt x="0" y="119985"/>
                    <a:pt x="0" y="94833"/>
                  </a:cubicBezTo>
                  <a:lnTo>
                    <a:pt x="0" y="94833"/>
                  </a:lnTo>
                  <a:cubicBezTo>
                    <a:pt x="0" y="69682"/>
                    <a:pt x="9991" y="45561"/>
                    <a:pt x="27776" y="27776"/>
                  </a:cubicBezTo>
                  <a:cubicBezTo>
                    <a:pt x="45561" y="9991"/>
                    <a:pt x="69682" y="0"/>
                    <a:pt x="94833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68848" cy="22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33781" y="6640373"/>
            <a:ext cx="3298908" cy="720141"/>
            <a:chOff x="0" y="0"/>
            <a:chExt cx="868848" cy="18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8848" cy="189667"/>
            </a:xfrm>
            <a:custGeom>
              <a:avLst/>
              <a:gdLst/>
              <a:ahLst/>
              <a:cxnLst/>
              <a:rect r="r" b="b" t="t" l="l"/>
              <a:pathLst>
                <a:path h="189667" w="868848">
                  <a:moveTo>
                    <a:pt x="94833" y="0"/>
                  </a:moveTo>
                  <a:lnTo>
                    <a:pt x="774015" y="0"/>
                  </a:lnTo>
                  <a:cubicBezTo>
                    <a:pt x="826390" y="0"/>
                    <a:pt x="868848" y="42458"/>
                    <a:pt x="868848" y="94833"/>
                  </a:cubicBezTo>
                  <a:lnTo>
                    <a:pt x="868848" y="94833"/>
                  </a:lnTo>
                  <a:cubicBezTo>
                    <a:pt x="868848" y="119985"/>
                    <a:pt x="858857" y="144106"/>
                    <a:pt x="841072" y="161891"/>
                  </a:cubicBezTo>
                  <a:cubicBezTo>
                    <a:pt x="823288" y="179675"/>
                    <a:pt x="799166" y="189667"/>
                    <a:pt x="774015" y="189667"/>
                  </a:cubicBezTo>
                  <a:lnTo>
                    <a:pt x="94833" y="189667"/>
                  </a:lnTo>
                  <a:cubicBezTo>
                    <a:pt x="69682" y="189667"/>
                    <a:pt x="45561" y="179675"/>
                    <a:pt x="27776" y="161891"/>
                  </a:cubicBezTo>
                  <a:cubicBezTo>
                    <a:pt x="9991" y="144106"/>
                    <a:pt x="0" y="119985"/>
                    <a:pt x="0" y="94833"/>
                  </a:cubicBezTo>
                  <a:lnTo>
                    <a:pt x="0" y="94833"/>
                  </a:lnTo>
                  <a:cubicBezTo>
                    <a:pt x="0" y="69682"/>
                    <a:pt x="9991" y="45561"/>
                    <a:pt x="27776" y="27776"/>
                  </a:cubicBezTo>
                  <a:cubicBezTo>
                    <a:pt x="45561" y="9991"/>
                    <a:pt x="69682" y="0"/>
                    <a:pt x="94833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68848" cy="22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1550" y="7726395"/>
            <a:ext cx="4707850" cy="720141"/>
            <a:chOff x="0" y="0"/>
            <a:chExt cx="1239928" cy="18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9928" cy="189667"/>
            </a:xfrm>
            <a:custGeom>
              <a:avLst/>
              <a:gdLst/>
              <a:ahLst/>
              <a:cxnLst/>
              <a:rect r="r" b="b" t="t" l="l"/>
              <a:pathLst>
                <a:path h="189667" w="1239928">
                  <a:moveTo>
                    <a:pt x="83868" y="0"/>
                  </a:moveTo>
                  <a:lnTo>
                    <a:pt x="1156060" y="0"/>
                  </a:lnTo>
                  <a:cubicBezTo>
                    <a:pt x="1178303" y="0"/>
                    <a:pt x="1199635" y="8836"/>
                    <a:pt x="1215363" y="24564"/>
                  </a:cubicBezTo>
                  <a:cubicBezTo>
                    <a:pt x="1231092" y="40293"/>
                    <a:pt x="1239928" y="61625"/>
                    <a:pt x="1239928" y="83868"/>
                  </a:cubicBezTo>
                  <a:lnTo>
                    <a:pt x="1239928" y="105799"/>
                  </a:lnTo>
                  <a:cubicBezTo>
                    <a:pt x="1239928" y="128042"/>
                    <a:pt x="1231092" y="149374"/>
                    <a:pt x="1215363" y="165102"/>
                  </a:cubicBezTo>
                  <a:cubicBezTo>
                    <a:pt x="1199635" y="180831"/>
                    <a:pt x="1178303" y="189667"/>
                    <a:pt x="1156060" y="189667"/>
                  </a:cubicBezTo>
                  <a:lnTo>
                    <a:pt x="83868" y="189667"/>
                  </a:lnTo>
                  <a:cubicBezTo>
                    <a:pt x="61625" y="189667"/>
                    <a:pt x="40293" y="180831"/>
                    <a:pt x="24564" y="165102"/>
                  </a:cubicBezTo>
                  <a:cubicBezTo>
                    <a:pt x="8836" y="149374"/>
                    <a:pt x="0" y="128042"/>
                    <a:pt x="0" y="105799"/>
                  </a:cubicBezTo>
                  <a:lnTo>
                    <a:pt x="0" y="83868"/>
                  </a:lnTo>
                  <a:cubicBezTo>
                    <a:pt x="0" y="61625"/>
                    <a:pt x="8836" y="40293"/>
                    <a:pt x="24564" y="24564"/>
                  </a:cubicBezTo>
                  <a:cubicBezTo>
                    <a:pt x="40293" y="8836"/>
                    <a:pt x="61625" y="0"/>
                    <a:pt x="83868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39928" cy="22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54719" y="851275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12119" y="453464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1" y="0"/>
                </a:lnTo>
                <a:lnTo>
                  <a:pt x="1093321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803872" y="7714539"/>
            <a:ext cx="2813999" cy="720141"/>
            <a:chOff x="0" y="0"/>
            <a:chExt cx="741136" cy="1896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1136" cy="189667"/>
            </a:xfrm>
            <a:custGeom>
              <a:avLst/>
              <a:gdLst/>
              <a:ahLst/>
              <a:cxnLst/>
              <a:rect r="r" b="b" t="t" l="l"/>
              <a:pathLst>
                <a:path h="189667" w="741136">
                  <a:moveTo>
                    <a:pt x="94833" y="0"/>
                  </a:moveTo>
                  <a:lnTo>
                    <a:pt x="646302" y="0"/>
                  </a:lnTo>
                  <a:cubicBezTo>
                    <a:pt x="698677" y="0"/>
                    <a:pt x="741136" y="42458"/>
                    <a:pt x="741136" y="94833"/>
                  </a:cubicBezTo>
                  <a:lnTo>
                    <a:pt x="741136" y="94833"/>
                  </a:lnTo>
                  <a:cubicBezTo>
                    <a:pt x="741136" y="119985"/>
                    <a:pt x="731144" y="144106"/>
                    <a:pt x="713360" y="161891"/>
                  </a:cubicBezTo>
                  <a:cubicBezTo>
                    <a:pt x="695575" y="179675"/>
                    <a:pt x="671454" y="189667"/>
                    <a:pt x="646302" y="189667"/>
                  </a:cubicBezTo>
                  <a:lnTo>
                    <a:pt x="94833" y="189667"/>
                  </a:lnTo>
                  <a:cubicBezTo>
                    <a:pt x="69682" y="189667"/>
                    <a:pt x="45561" y="179675"/>
                    <a:pt x="27776" y="161891"/>
                  </a:cubicBezTo>
                  <a:cubicBezTo>
                    <a:pt x="9991" y="144106"/>
                    <a:pt x="0" y="119985"/>
                    <a:pt x="0" y="94833"/>
                  </a:cubicBezTo>
                  <a:lnTo>
                    <a:pt x="0" y="94833"/>
                  </a:lnTo>
                  <a:cubicBezTo>
                    <a:pt x="0" y="69682"/>
                    <a:pt x="9991" y="45561"/>
                    <a:pt x="27776" y="27776"/>
                  </a:cubicBezTo>
                  <a:cubicBezTo>
                    <a:pt x="45561" y="9991"/>
                    <a:pt x="69682" y="0"/>
                    <a:pt x="94833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41136" cy="22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198984" y="2022210"/>
            <a:ext cx="995040" cy="876879"/>
          </a:xfrm>
          <a:custGeom>
            <a:avLst/>
            <a:gdLst/>
            <a:ahLst/>
            <a:cxnLst/>
            <a:rect r="r" b="b" t="t" l="l"/>
            <a:pathLst>
              <a:path h="876879" w="995040">
                <a:moveTo>
                  <a:pt x="0" y="0"/>
                </a:moveTo>
                <a:lnTo>
                  <a:pt x="995040" y="0"/>
                </a:lnTo>
                <a:lnTo>
                  <a:pt x="995040" y="876879"/>
                </a:lnTo>
                <a:lnTo>
                  <a:pt x="0" y="8768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933798"/>
            <a:ext cx="9415701" cy="220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6"/>
              </a:lnSpc>
            </a:pPr>
            <a:r>
              <a:rPr lang="en-US" sz="7832" b="true">
                <a:solidFill>
                  <a:srgbClr val="003F6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XCODE INSTRUMENTS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143375"/>
            <a:ext cx="9664644" cy="206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Xcode Instruments is a powerful performance and debugging tool used to analyze runtime behavior of iOS apps. It helps identify </a:t>
            </a:r>
            <a:r>
              <a:rPr lang="en-US" sz="29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memory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issues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9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CPU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usage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9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UI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lag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9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leaks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9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threading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issues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sz="29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more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4633" y="6702629"/>
            <a:ext cx="2172742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 Profiler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45042" y="6702629"/>
            <a:ext cx="267638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Leaks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7717" y="7824211"/>
            <a:ext cx="4255516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Memory Graph Debugger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69380" y="7776794"/>
            <a:ext cx="2282982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Zombies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099389" y="6640373"/>
            <a:ext cx="3298908" cy="720141"/>
            <a:chOff x="0" y="0"/>
            <a:chExt cx="868848" cy="1896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68848" cy="189667"/>
            </a:xfrm>
            <a:custGeom>
              <a:avLst/>
              <a:gdLst/>
              <a:ahLst/>
              <a:cxnLst/>
              <a:rect r="r" b="b" t="t" l="l"/>
              <a:pathLst>
                <a:path h="189667" w="868848">
                  <a:moveTo>
                    <a:pt x="94833" y="0"/>
                  </a:moveTo>
                  <a:lnTo>
                    <a:pt x="774015" y="0"/>
                  </a:lnTo>
                  <a:cubicBezTo>
                    <a:pt x="826390" y="0"/>
                    <a:pt x="868848" y="42458"/>
                    <a:pt x="868848" y="94833"/>
                  </a:cubicBezTo>
                  <a:lnTo>
                    <a:pt x="868848" y="94833"/>
                  </a:lnTo>
                  <a:cubicBezTo>
                    <a:pt x="868848" y="119985"/>
                    <a:pt x="858857" y="144106"/>
                    <a:pt x="841072" y="161891"/>
                  </a:cubicBezTo>
                  <a:cubicBezTo>
                    <a:pt x="823288" y="179675"/>
                    <a:pt x="799166" y="189667"/>
                    <a:pt x="774015" y="189667"/>
                  </a:cubicBezTo>
                  <a:lnTo>
                    <a:pt x="94833" y="189667"/>
                  </a:lnTo>
                  <a:cubicBezTo>
                    <a:pt x="69682" y="189667"/>
                    <a:pt x="45561" y="179675"/>
                    <a:pt x="27776" y="161891"/>
                  </a:cubicBezTo>
                  <a:cubicBezTo>
                    <a:pt x="9991" y="144106"/>
                    <a:pt x="0" y="119985"/>
                    <a:pt x="0" y="94833"/>
                  </a:cubicBezTo>
                  <a:lnTo>
                    <a:pt x="0" y="94833"/>
                  </a:lnTo>
                  <a:cubicBezTo>
                    <a:pt x="0" y="69682"/>
                    <a:pt x="9991" y="45561"/>
                    <a:pt x="27776" y="27776"/>
                  </a:cubicBezTo>
                  <a:cubicBezTo>
                    <a:pt x="45561" y="9991"/>
                    <a:pt x="69682" y="0"/>
                    <a:pt x="94833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68848" cy="22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410650" y="6702629"/>
            <a:ext cx="267638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Allocations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862914" y="7714539"/>
            <a:ext cx="2731289" cy="720141"/>
            <a:chOff x="0" y="0"/>
            <a:chExt cx="719352" cy="1896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9352" cy="189667"/>
            </a:xfrm>
            <a:custGeom>
              <a:avLst/>
              <a:gdLst/>
              <a:ahLst/>
              <a:cxnLst/>
              <a:rect r="r" b="b" t="t" l="l"/>
              <a:pathLst>
                <a:path h="189667" w="719352">
                  <a:moveTo>
                    <a:pt x="94833" y="0"/>
                  </a:moveTo>
                  <a:lnTo>
                    <a:pt x="624518" y="0"/>
                  </a:lnTo>
                  <a:cubicBezTo>
                    <a:pt x="676893" y="0"/>
                    <a:pt x="719352" y="42458"/>
                    <a:pt x="719352" y="94833"/>
                  </a:cubicBezTo>
                  <a:lnTo>
                    <a:pt x="719352" y="94833"/>
                  </a:lnTo>
                  <a:cubicBezTo>
                    <a:pt x="719352" y="119985"/>
                    <a:pt x="709360" y="144106"/>
                    <a:pt x="691576" y="161891"/>
                  </a:cubicBezTo>
                  <a:cubicBezTo>
                    <a:pt x="673791" y="179675"/>
                    <a:pt x="649670" y="189667"/>
                    <a:pt x="624518" y="189667"/>
                  </a:cubicBezTo>
                  <a:lnTo>
                    <a:pt x="94833" y="189667"/>
                  </a:lnTo>
                  <a:cubicBezTo>
                    <a:pt x="69682" y="189667"/>
                    <a:pt x="45561" y="179675"/>
                    <a:pt x="27776" y="161891"/>
                  </a:cubicBezTo>
                  <a:cubicBezTo>
                    <a:pt x="9991" y="144106"/>
                    <a:pt x="0" y="119985"/>
                    <a:pt x="0" y="94833"/>
                  </a:cubicBezTo>
                  <a:lnTo>
                    <a:pt x="0" y="94833"/>
                  </a:lnTo>
                  <a:cubicBezTo>
                    <a:pt x="0" y="69682"/>
                    <a:pt x="9991" y="45561"/>
                    <a:pt x="27776" y="27776"/>
                  </a:cubicBezTo>
                  <a:cubicBezTo>
                    <a:pt x="45561" y="9991"/>
                    <a:pt x="69682" y="0"/>
                    <a:pt x="94833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19352" cy="22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257617" y="7748219"/>
            <a:ext cx="1920329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Energy Log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549767" y="8707730"/>
            <a:ext cx="4707850" cy="720141"/>
            <a:chOff x="0" y="0"/>
            <a:chExt cx="1239928" cy="1896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39928" cy="189667"/>
            </a:xfrm>
            <a:custGeom>
              <a:avLst/>
              <a:gdLst/>
              <a:ahLst/>
              <a:cxnLst/>
              <a:rect r="r" b="b" t="t" l="l"/>
              <a:pathLst>
                <a:path h="189667" w="1239928">
                  <a:moveTo>
                    <a:pt x="83868" y="0"/>
                  </a:moveTo>
                  <a:lnTo>
                    <a:pt x="1156060" y="0"/>
                  </a:lnTo>
                  <a:cubicBezTo>
                    <a:pt x="1178303" y="0"/>
                    <a:pt x="1199635" y="8836"/>
                    <a:pt x="1215363" y="24564"/>
                  </a:cubicBezTo>
                  <a:cubicBezTo>
                    <a:pt x="1231092" y="40293"/>
                    <a:pt x="1239928" y="61625"/>
                    <a:pt x="1239928" y="83868"/>
                  </a:cubicBezTo>
                  <a:lnTo>
                    <a:pt x="1239928" y="105799"/>
                  </a:lnTo>
                  <a:cubicBezTo>
                    <a:pt x="1239928" y="128042"/>
                    <a:pt x="1231092" y="149374"/>
                    <a:pt x="1215363" y="165102"/>
                  </a:cubicBezTo>
                  <a:cubicBezTo>
                    <a:pt x="1199635" y="180831"/>
                    <a:pt x="1178303" y="189667"/>
                    <a:pt x="1156060" y="189667"/>
                  </a:cubicBezTo>
                  <a:lnTo>
                    <a:pt x="83868" y="189667"/>
                  </a:lnTo>
                  <a:cubicBezTo>
                    <a:pt x="61625" y="189667"/>
                    <a:pt x="40293" y="180831"/>
                    <a:pt x="24564" y="165102"/>
                  </a:cubicBezTo>
                  <a:cubicBezTo>
                    <a:pt x="8836" y="149374"/>
                    <a:pt x="0" y="128042"/>
                    <a:pt x="0" y="105799"/>
                  </a:cubicBezTo>
                  <a:lnTo>
                    <a:pt x="0" y="83868"/>
                  </a:lnTo>
                  <a:cubicBezTo>
                    <a:pt x="0" y="61625"/>
                    <a:pt x="8836" y="40293"/>
                    <a:pt x="24564" y="24564"/>
                  </a:cubicBezTo>
                  <a:cubicBezTo>
                    <a:pt x="40293" y="8836"/>
                    <a:pt x="61625" y="0"/>
                    <a:pt x="83868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39928" cy="22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4775934" y="8805545"/>
            <a:ext cx="4255516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Network Instrument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71550" y="8707730"/>
            <a:ext cx="3298908" cy="720141"/>
            <a:chOff x="0" y="0"/>
            <a:chExt cx="868848" cy="1896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68848" cy="189667"/>
            </a:xfrm>
            <a:custGeom>
              <a:avLst/>
              <a:gdLst/>
              <a:ahLst/>
              <a:cxnLst/>
              <a:rect r="r" b="b" t="t" l="l"/>
              <a:pathLst>
                <a:path h="189667" w="868848">
                  <a:moveTo>
                    <a:pt x="94833" y="0"/>
                  </a:moveTo>
                  <a:lnTo>
                    <a:pt x="774015" y="0"/>
                  </a:lnTo>
                  <a:cubicBezTo>
                    <a:pt x="826390" y="0"/>
                    <a:pt x="868848" y="42458"/>
                    <a:pt x="868848" y="94833"/>
                  </a:cubicBezTo>
                  <a:lnTo>
                    <a:pt x="868848" y="94833"/>
                  </a:lnTo>
                  <a:cubicBezTo>
                    <a:pt x="868848" y="119985"/>
                    <a:pt x="858857" y="144106"/>
                    <a:pt x="841072" y="161891"/>
                  </a:cubicBezTo>
                  <a:cubicBezTo>
                    <a:pt x="823288" y="179675"/>
                    <a:pt x="799166" y="189667"/>
                    <a:pt x="774015" y="189667"/>
                  </a:cubicBezTo>
                  <a:lnTo>
                    <a:pt x="94833" y="189667"/>
                  </a:lnTo>
                  <a:cubicBezTo>
                    <a:pt x="69682" y="189667"/>
                    <a:pt x="45561" y="179675"/>
                    <a:pt x="27776" y="161891"/>
                  </a:cubicBezTo>
                  <a:cubicBezTo>
                    <a:pt x="9991" y="144106"/>
                    <a:pt x="0" y="119985"/>
                    <a:pt x="0" y="94833"/>
                  </a:cubicBezTo>
                  <a:lnTo>
                    <a:pt x="0" y="94833"/>
                  </a:lnTo>
                  <a:cubicBezTo>
                    <a:pt x="0" y="69682"/>
                    <a:pt x="9991" y="45561"/>
                    <a:pt x="27776" y="27776"/>
                  </a:cubicBezTo>
                  <a:cubicBezTo>
                    <a:pt x="45561" y="9991"/>
                    <a:pt x="69682" y="0"/>
                    <a:pt x="94833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68848" cy="22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29164" y="8769985"/>
            <a:ext cx="2783681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Animation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669956" cy="1214819"/>
            <a:chOff x="0" y="0"/>
            <a:chExt cx="1378483" cy="218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8483" cy="218333"/>
            </a:xfrm>
            <a:custGeom>
              <a:avLst/>
              <a:gdLst/>
              <a:ahLst/>
              <a:cxnLst/>
              <a:rect r="r" b="b" t="t" l="l"/>
              <a:pathLst>
                <a:path h="218333" w="1378483">
                  <a:moveTo>
                    <a:pt x="100938" y="0"/>
                  </a:moveTo>
                  <a:lnTo>
                    <a:pt x="1277545" y="0"/>
                  </a:lnTo>
                  <a:cubicBezTo>
                    <a:pt x="1333292" y="0"/>
                    <a:pt x="1378483" y="45192"/>
                    <a:pt x="1378483" y="100938"/>
                  </a:cubicBezTo>
                  <a:lnTo>
                    <a:pt x="1378483" y="117395"/>
                  </a:lnTo>
                  <a:cubicBezTo>
                    <a:pt x="1378483" y="173142"/>
                    <a:pt x="1333292" y="218333"/>
                    <a:pt x="1277545" y="218333"/>
                  </a:cubicBezTo>
                  <a:lnTo>
                    <a:pt x="100938" y="218333"/>
                  </a:lnTo>
                  <a:cubicBezTo>
                    <a:pt x="45192" y="218333"/>
                    <a:pt x="0" y="173142"/>
                    <a:pt x="0" y="117395"/>
                  </a:cubicBezTo>
                  <a:lnTo>
                    <a:pt x="0" y="100938"/>
                  </a:lnTo>
                  <a:cubicBezTo>
                    <a:pt x="0" y="45192"/>
                    <a:pt x="45192" y="0"/>
                    <a:pt x="100938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78483" cy="25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90640" y="85393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71364" y="1326270"/>
            <a:ext cx="5718000" cy="7213073"/>
          </a:xfrm>
          <a:custGeom>
            <a:avLst/>
            <a:gdLst/>
            <a:ahLst/>
            <a:cxnLst/>
            <a:rect r="r" b="b" t="t" l="l"/>
            <a:pathLst>
              <a:path h="7213073" w="5718000">
                <a:moveTo>
                  <a:pt x="0" y="0"/>
                </a:moveTo>
                <a:lnTo>
                  <a:pt x="5717999" y="0"/>
                </a:lnTo>
                <a:lnTo>
                  <a:pt x="5717999" y="7213073"/>
                </a:lnTo>
                <a:lnTo>
                  <a:pt x="0" y="72130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857595"/>
            <a:ext cx="8771610" cy="617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9302" indent="-299651" lvl="1">
              <a:lnSpc>
                <a:spcPts val="4080"/>
              </a:lnSpc>
              <a:buFont typeface="Arial"/>
              <a:buChar char="•"/>
            </a:pPr>
            <a:r>
              <a:rPr lang="en-US" b="true" sz="27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Xcode Instruments</a:t>
            </a:r>
            <a:r>
              <a:rPr lang="en-US" sz="27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 a powerful performance and debugging tool used to analyse runtime behaviour of iOS apps. It helps identify </a:t>
            </a:r>
            <a:r>
              <a:rPr lang="en-US" b="true" sz="27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memory issues, CPU usage, UI lag, leaks, threading issues, and more</a:t>
            </a:r>
            <a:r>
              <a:rPr lang="en-US" sz="27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l" marL="599302" indent="-299651" lvl="1">
              <a:lnSpc>
                <a:spcPts val="4080"/>
              </a:lnSpc>
              <a:buFont typeface="Arial"/>
              <a:buChar char="•"/>
            </a:pPr>
            <a:r>
              <a:rPr lang="en-US" sz="27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</a:t>
            </a:r>
            <a:r>
              <a:rPr lang="en-US" sz="27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iOS developer preparing for deeper debugging and performance work, understanding each instrument is very valuable.</a:t>
            </a:r>
          </a:p>
          <a:p>
            <a:pPr algn="l" marL="599302" indent="-299651" lvl="1">
              <a:lnSpc>
                <a:spcPts val="4080"/>
              </a:lnSpc>
              <a:buFont typeface="Arial"/>
              <a:buChar char="•"/>
            </a:pPr>
            <a:r>
              <a:rPr lang="en-US" sz="27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 breakdown of the most important Instruments and what problems they help solve.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1340" y="1211970"/>
            <a:ext cx="6064677" cy="73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4"/>
              </a:lnSpc>
            </a:pPr>
            <a:r>
              <a:rPr lang="en-US" b="true" sz="4103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669956" cy="1214819"/>
            <a:chOff x="0" y="0"/>
            <a:chExt cx="1378483" cy="218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8483" cy="218333"/>
            </a:xfrm>
            <a:custGeom>
              <a:avLst/>
              <a:gdLst/>
              <a:ahLst/>
              <a:cxnLst/>
              <a:rect r="r" b="b" t="t" l="l"/>
              <a:pathLst>
                <a:path h="218333" w="1378483">
                  <a:moveTo>
                    <a:pt x="100938" y="0"/>
                  </a:moveTo>
                  <a:lnTo>
                    <a:pt x="1277545" y="0"/>
                  </a:lnTo>
                  <a:cubicBezTo>
                    <a:pt x="1333292" y="0"/>
                    <a:pt x="1378483" y="45192"/>
                    <a:pt x="1378483" y="100938"/>
                  </a:cubicBezTo>
                  <a:lnTo>
                    <a:pt x="1378483" y="117395"/>
                  </a:lnTo>
                  <a:cubicBezTo>
                    <a:pt x="1378483" y="173142"/>
                    <a:pt x="1333292" y="218333"/>
                    <a:pt x="1277545" y="218333"/>
                  </a:cubicBezTo>
                  <a:lnTo>
                    <a:pt x="100938" y="218333"/>
                  </a:lnTo>
                  <a:cubicBezTo>
                    <a:pt x="45192" y="218333"/>
                    <a:pt x="0" y="173142"/>
                    <a:pt x="0" y="117395"/>
                  </a:cubicBezTo>
                  <a:lnTo>
                    <a:pt x="0" y="100938"/>
                  </a:lnTo>
                  <a:cubicBezTo>
                    <a:pt x="0" y="45192"/>
                    <a:pt x="45192" y="0"/>
                    <a:pt x="100938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78483" cy="25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90640" y="85393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96626" y="1028700"/>
            <a:ext cx="8771860" cy="8229600"/>
          </a:xfrm>
          <a:custGeom>
            <a:avLst/>
            <a:gdLst/>
            <a:ahLst/>
            <a:cxnLst/>
            <a:rect r="r" b="b" t="t" l="l"/>
            <a:pathLst>
              <a:path h="8229600" w="8771860">
                <a:moveTo>
                  <a:pt x="0" y="0"/>
                </a:moveTo>
                <a:lnTo>
                  <a:pt x="8771860" y="0"/>
                </a:lnTo>
                <a:lnTo>
                  <a:pt x="87718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2752594"/>
            <a:ext cx="7237948" cy="614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8839" indent="-364419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Time Profiler</a:t>
            </a:r>
          </a:p>
          <a:p>
            <a:pPr algn="l" marL="728839" indent="-364419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Allocations</a:t>
            </a:r>
          </a:p>
          <a:p>
            <a:pPr algn="l" marL="728839" indent="-364419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Leaks</a:t>
            </a:r>
          </a:p>
          <a:p>
            <a:pPr algn="l" marL="728839" indent="-364419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Zombies</a:t>
            </a:r>
          </a:p>
          <a:p>
            <a:pPr algn="l" marL="728839" indent="-364419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Memory Graph Debugger</a:t>
            </a:r>
          </a:p>
          <a:p>
            <a:pPr algn="l" marL="728839" indent="-364419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Energy Log</a:t>
            </a:r>
          </a:p>
          <a:p>
            <a:pPr algn="l" marL="728839" indent="-364419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Network Instrument</a:t>
            </a:r>
          </a:p>
          <a:p>
            <a:pPr algn="l" marL="728839" indent="-364419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Core Animation</a:t>
            </a:r>
          </a:p>
          <a:p>
            <a:pPr algn="l" marL="728839" indent="-364419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Thread Sanitizer</a:t>
            </a:r>
          </a:p>
          <a:p>
            <a:pPr algn="l" marL="728839" indent="-364419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System Trace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1340" y="1211970"/>
            <a:ext cx="6064677" cy="73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4"/>
              </a:lnSpc>
            </a:pPr>
            <a:r>
              <a:rPr lang="en-US" b="true" sz="4103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INSTRUMENT TYPE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49965" y="4820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669956" cy="1214819"/>
            <a:chOff x="0" y="0"/>
            <a:chExt cx="1378483" cy="218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8483" cy="218333"/>
            </a:xfrm>
            <a:custGeom>
              <a:avLst/>
              <a:gdLst/>
              <a:ahLst/>
              <a:cxnLst/>
              <a:rect r="r" b="b" t="t" l="l"/>
              <a:pathLst>
                <a:path h="218333" w="1378483">
                  <a:moveTo>
                    <a:pt x="100938" y="0"/>
                  </a:moveTo>
                  <a:lnTo>
                    <a:pt x="1277545" y="0"/>
                  </a:lnTo>
                  <a:cubicBezTo>
                    <a:pt x="1333292" y="0"/>
                    <a:pt x="1378483" y="45192"/>
                    <a:pt x="1378483" y="100938"/>
                  </a:cubicBezTo>
                  <a:lnTo>
                    <a:pt x="1378483" y="117395"/>
                  </a:lnTo>
                  <a:cubicBezTo>
                    <a:pt x="1378483" y="173142"/>
                    <a:pt x="1333292" y="218333"/>
                    <a:pt x="1277545" y="218333"/>
                  </a:cubicBezTo>
                  <a:lnTo>
                    <a:pt x="100938" y="218333"/>
                  </a:lnTo>
                  <a:cubicBezTo>
                    <a:pt x="45192" y="218333"/>
                    <a:pt x="0" y="173142"/>
                    <a:pt x="0" y="117395"/>
                  </a:cubicBezTo>
                  <a:lnTo>
                    <a:pt x="0" y="100938"/>
                  </a:lnTo>
                  <a:cubicBezTo>
                    <a:pt x="0" y="45192"/>
                    <a:pt x="45192" y="0"/>
                    <a:pt x="100938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78483" cy="25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90640" y="85393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199074" y="6536989"/>
            <a:ext cx="2324047" cy="3445353"/>
          </a:xfrm>
          <a:custGeom>
            <a:avLst/>
            <a:gdLst/>
            <a:ahLst/>
            <a:cxnLst/>
            <a:rect r="r" b="b" t="t" l="l"/>
            <a:pathLst>
              <a:path h="3445353" w="2324047">
                <a:moveTo>
                  <a:pt x="2324047" y="0"/>
                </a:moveTo>
                <a:lnTo>
                  <a:pt x="0" y="0"/>
                </a:lnTo>
                <a:lnTo>
                  <a:pt x="0" y="3445353"/>
                </a:lnTo>
                <a:lnTo>
                  <a:pt x="2324047" y="3445353"/>
                </a:lnTo>
                <a:lnTo>
                  <a:pt x="232404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389902"/>
            <a:ext cx="7882627" cy="665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4256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 CPU usage and identify slow or expensive code.</a:t>
            </a:r>
          </a:p>
          <a:p>
            <a:pPr algn="l">
              <a:lnSpc>
                <a:spcPts val="425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it helps you detect</a:t>
            </a:r>
          </a:p>
          <a:p>
            <a:pPr algn="l" marL="620892" indent="-310446" lvl="1">
              <a:lnSpc>
                <a:spcPts val="425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CPU usage</a:t>
            </a:r>
          </a:p>
          <a:p>
            <a:pPr algn="l" marL="620892" indent="-310446" lvl="1">
              <a:lnSpc>
                <a:spcPts val="425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Slow functions</a:t>
            </a:r>
          </a:p>
          <a:p>
            <a:pPr algn="l" marL="620892" indent="-310446" lvl="1">
              <a:lnSpc>
                <a:spcPts val="425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Inefficient algorithms</a:t>
            </a:r>
          </a:p>
          <a:p>
            <a:pPr algn="l" marL="620892" indent="-310446" lvl="1">
              <a:lnSpc>
                <a:spcPts val="425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Heavy loops</a:t>
            </a:r>
          </a:p>
          <a:p>
            <a:pPr algn="l" marL="620892" indent="-310446" lvl="1">
              <a:lnSpc>
                <a:spcPts val="425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UI lag caused by background work on main thread</a:t>
            </a:r>
          </a:p>
          <a:p>
            <a:pPr algn="l">
              <a:lnSpc>
                <a:spcPts val="425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Problem</a:t>
            </a:r>
          </a:p>
          <a:p>
            <a:pPr algn="l" marL="944734" indent="-472367" lvl="1">
              <a:lnSpc>
                <a:spcPts val="6476"/>
              </a:lnSpc>
              <a:buFont typeface="Arial"/>
              <a:buChar char="•"/>
            </a:pPr>
            <a:r>
              <a:rPr lang="en-US" sz="4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 scrolling is laggy.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1340" y="1211970"/>
            <a:ext cx="6064677" cy="73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4"/>
              </a:lnSpc>
            </a:pPr>
            <a:r>
              <a:rPr lang="en-US" b="true" sz="4103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TIME PROFILER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361097" y="6975788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76673" y="2288313"/>
            <a:ext cx="7882627" cy="653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1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Time Profiler shows:</a:t>
            </a:r>
          </a:p>
          <a:p>
            <a:pPr algn="l" marL="577713" indent="-288856" lvl="1">
              <a:lnSpc>
                <a:spcPts val="4495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6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alculateDistance()</a:t>
            </a:r>
          </a:p>
          <a:p>
            <a:pPr algn="l" marL="577713" indent="-288856" lvl="1">
              <a:lnSpc>
                <a:spcPts val="4495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calculateDistance()</a:t>
            </a:r>
          </a:p>
          <a:p>
            <a:pPr algn="l" marL="577713" indent="-288856" lvl="1">
              <a:lnSpc>
                <a:spcPts val="4495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calculateDistance()</a:t>
            </a:r>
          </a:p>
          <a:p>
            <a:pPr algn="l">
              <a:lnSpc>
                <a:spcPts val="4831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alled thousands of times.</a:t>
            </a:r>
          </a:p>
          <a:p>
            <a:pPr algn="l">
              <a:lnSpc>
                <a:spcPts val="4831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  <a:p>
            <a:pPr algn="l">
              <a:lnSpc>
                <a:spcPts val="4831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Optimize the function or cache results.</a:t>
            </a:r>
          </a:p>
          <a:p>
            <a:pPr algn="l">
              <a:lnSpc>
                <a:spcPts val="4831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</a:t>
            </a: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ey Metrics</a:t>
            </a:r>
          </a:p>
          <a:p>
            <a:pPr algn="l" marL="620892" indent="-310446" lvl="1">
              <a:lnSpc>
                <a:spcPts val="4831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CP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 time per function</a:t>
            </a:r>
          </a:p>
          <a:p>
            <a:pPr algn="l" marL="620892" indent="-310446" lvl="1">
              <a:lnSpc>
                <a:spcPts val="4831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</a:p>
          <a:p>
            <a:pPr algn="l" marL="620892" indent="-310446" lvl="1">
              <a:lnSpc>
                <a:spcPts val="4831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Exe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cution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669956" cy="1214819"/>
            <a:chOff x="0" y="0"/>
            <a:chExt cx="1378483" cy="218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8483" cy="218333"/>
            </a:xfrm>
            <a:custGeom>
              <a:avLst/>
              <a:gdLst/>
              <a:ahLst/>
              <a:cxnLst/>
              <a:rect r="r" b="b" t="t" l="l"/>
              <a:pathLst>
                <a:path h="218333" w="1378483">
                  <a:moveTo>
                    <a:pt x="100938" y="0"/>
                  </a:moveTo>
                  <a:lnTo>
                    <a:pt x="1277545" y="0"/>
                  </a:lnTo>
                  <a:cubicBezTo>
                    <a:pt x="1333292" y="0"/>
                    <a:pt x="1378483" y="45192"/>
                    <a:pt x="1378483" y="100938"/>
                  </a:cubicBezTo>
                  <a:lnTo>
                    <a:pt x="1378483" y="117395"/>
                  </a:lnTo>
                  <a:cubicBezTo>
                    <a:pt x="1378483" y="173142"/>
                    <a:pt x="1333292" y="218333"/>
                    <a:pt x="1277545" y="218333"/>
                  </a:cubicBezTo>
                  <a:lnTo>
                    <a:pt x="100938" y="218333"/>
                  </a:lnTo>
                  <a:cubicBezTo>
                    <a:pt x="45192" y="218333"/>
                    <a:pt x="0" y="173142"/>
                    <a:pt x="0" y="117395"/>
                  </a:cubicBezTo>
                  <a:lnTo>
                    <a:pt x="0" y="100938"/>
                  </a:lnTo>
                  <a:cubicBezTo>
                    <a:pt x="0" y="45192"/>
                    <a:pt x="45192" y="0"/>
                    <a:pt x="100938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78483" cy="25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90640" y="85393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29657" y="4935235"/>
            <a:ext cx="7258343" cy="5661508"/>
          </a:xfrm>
          <a:custGeom>
            <a:avLst/>
            <a:gdLst/>
            <a:ahLst/>
            <a:cxnLst/>
            <a:rect r="r" b="b" t="t" l="l"/>
            <a:pathLst>
              <a:path h="5661508" w="7258343">
                <a:moveTo>
                  <a:pt x="0" y="0"/>
                </a:moveTo>
                <a:lnTo>
                  <a:pt x="7258343" y="0"/>
                </a:lnTo>
                <a:lnTo>
                  <a:pt x="7258343" y="5661508"/>
                </a:lnTo>
                <a:lnTo>
                  <a:pt x="0" y="56615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2541598"/>
            <a:ext cx="7882627" cy="642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8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Purpose:</a:t>
            </a:r>
          </a:p>
          <a:p>
            <a:pPr algn="l">
              <a:lnSpc>
                <a:spcPts val="4428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Track memory allocations and object creation.</a:t>
            </a:r>
          </a:p>
          <a:p>
            <a:pPr algn="l">
              <a:lnSpc>
                <a:spcPts val="4428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it helps you detect</a:t>
            </a:r>
          </a:p>
          <a:p>
            <a:pPr algn="l" marL="620892" indent="-310446" lvl="1">
              <a:lnSpc>
                <a:spcPts val="4428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Excessive object creation</a:t>
            </a:r>
          </a:p>
          <a:p>
            <a:pPr algn="l" marL="620892" indent="-310446" lvl="1">
              <a:lnSpc>
                <a:spcPts val="4428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Memory growth over time</a:t>
            </a:r>
          </a:p>
          <a:p>
            <a:pPr algn="l" marL="620892" indent="-310446" lvl="1">
              <a:lnSpc>
                <a:spcPts val="4428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Large memory consumption</a:t>
            </a:r>
          </a:p>
          <a:p>
            <a:pPr algn="l" marL="620892" indent="-310446" lvl="1">
              <a:lnSpc>
                <a:spcPts val="4428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Objects not being released</a:t>
            </a:r>
          </a:p>
          <a:p>
            <a:pPr algn="l">
              <a:lnSpc>
                <a:spcPts val="4428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Problem</a:t>
            </a:r>
          </a:p>
          <a:p>
            <a:pPr algn="l">
              <a:lnSpc>
                <a:spcPts val="4428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Your app memory grows from:</a:t>
            </a:r>
          </a:p>
          <a:p>
            <a:pPr algn="l">
              <a:lnSpc>
                <a:spcPts val="6738"/>
              </a:lnSpc>
            </a:pPr>
            <a:r>
              <a:rPr lang="en-US" sz="4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80MB → 200MB → 400MB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1340" y="1211970"/>
            <a:ext cx="6064677" cy="73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4"/>
              </a:lnSpc>
            </a:pPr>
            <a:r>
              <a:rPr lang="en-US" b="true" sz="4103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ALLOCATIONS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120319" y="5516444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76673" y="2541598"/>
            <a:ext cx="7882627" cy="223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8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llocations show that UIImage objects are constantly created.</a:t>
            </a:r>
          </a:p>
          <a:p>
            <a:pPr algn="l">
              <a:lnSpc>
                <a:spcPts val="4428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  <a:p>
            <a:pPr algn="l">
              <a:lnSpc>
                <a:spcPts val="4428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Reuse images or use caching.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8115300" cy="1214819"/>
            <a:chOff x="0" y="0"/>
            <a:chExt cx="1458523" cy="218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8523" cy="218333"/>
            </a:xfrm>
            <a:custGeom>
              <a:avLst/>
              <a:gdLst/>
              <a:ahLst/>
              <a:cxnLst/>
              <a:rect r="r" b="b" t="t" l="l"/>
              <a:pathLst>
                <a:path h="218333" w="1458523">
                  <a:moveTo>
                    <a:pt x="95399" y="0"/>
                  </a:moveTo>
                  <a:lnTo>
                    <a:pt x="1363124" y="0"/>
                  </a:lnTo>
                  <a:cubicBezTo>
                    <a:pt x="1388425" y="0"/>
                    <a:pt x="1412690" y="10051"/>
                    <a:pt x="1430581" y="27942"/>
                  </a:cubicBezTo>
                  <a:cubicBezTo>
                    <a:pt x="1448472" y="45833"/>
                    <a:pt x="1458523" y="70098"/>
                    <a:pt x="1458523" y="95399"/>
                  </a:cubicBezTo>
                  <a:lnTo>
                    <a:pt x="1458523" y="122934"/>
                  </a:lnTo>
                  <a:cubicBezTo>
                    <a:pt x="1458523" y="175622"/>
                    <a:pt x="1415811" y="218333"/>
                    <a:pt x="1363124" y="218333"/>
                  </a:cubicBezTo>
                  <a:lnTo>
                    <a:pt x="95399" y="218333"/>
                  </a:lnTo>
                  <a:cubicBezTo>
                    <a:pt x="70098" y="218333"/>
                    <a:pt x="45833" y="208282"/>
                    <a:pt x="27942" y="190392"/>
                  </a:cubicBezTo>
                  <a:cubicBezTo>
                    <a:pt x="10051" y="172501"/>
                    <a:pt x="0" y="148236"/>
                    <a:pt x="0" y="122934"/>
                  </a:cubicBezTo>
                  <a:lnTo>
                    <a:pt x="0" y="95399"/>
                  </a:lnTo>
                  <a:cubicBezTo>
                    <a:pt x="0" y="42712"/>
                    <a:pt x="42712" y="0"/>
                    <a:pt x="95399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58523" cy="25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90640" y="85393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2039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40508" y="5998028"/>
            <a:ext cx="4318892" cy="4201104"/>
          </a:xfrm>
          <a:custGeom>
            <a:avLst/>
            <a:gdLst/>
            <a:ahLst/>
            <a:cxnLst/>
            <a:rect r="r" b="b" t="t" l="l"/>
            <a:pathLst>
              <a:path h="4201104" w="4318892">
                <a:moveTo>
                  <a:pt x="0" y="0"/>
                </a:moveTo>
                <a:lnTo>
                  <a:pt x="4318892" y="0"/>
                </a:lnTo>
                <a:lnTo>
                  <a:pt x="4318892" y="4201104"/>
                </a:lnTo>
                <a:lnTo>
                  <a:pt x="0" y="42011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2440156"/>
            <a:ext cx="7882627" cy="6617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1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Purpose:</a:t>
            </a:r>
          </a:p>
          <a:p>
            <a:pPr algn="l" marL="620892" indent="-310446" lvl="1">
              <a:lnSpc>
                <a:spcPts val="4371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 memory leaks.</a:t>
            </a:r>
          </a:p>
          <a:p>
            <a:pPr algn="l" marL="620892" indent="-310446" lvl="1">
              <a:lnSpc>
                <a:spcPts val="4371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memory leak occurs when objects remain in memory even though they are no longer needed.</a:t>
            </a:r>
          </a:p>
          <a:p>
            <a:pPr algn="l">
              <a:lnSpc>
                <a:spcPts val="4371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it helps you detect</a:t>
            </a:r>
          </a:p>
          <a:p>
            <a:pPr algn="l" marL="620892" indent="-310446" lvl="1">
              <a:lnSpc>
                <a:spcPts val="4371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reference cycles</a:t>
            </a:r>
          </a:p>
          <a:p>
            <a:pPr algn="l" marL="620892" indent="-310446" lvl="1">
              <a:lnSpc>
                <a:spcPts val="4371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Objects never deallocated</a:t>
            </a:r>
          </a:p>
          <a:p>
            <a:pPr algn="l" marL="620892" indent="-310446" lvl="1">
              <a:lnSpc>
                <a:spcPts val="4371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Retain cycles between objects</a:t>
            </a:r>
          </a:p>
          <a:p>
            <a:pPr algn="l">
              <a:lnSpc>
                <a:spcPts val="4371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Problem</a:t>
            </a:r>
          </a:p>
          <a:p>
            <a:pPr algn="l" marL="620892" indent="-310446" lvl="1">
              <a:lnSpc>
                <a:spcPts val="4371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ViewController → ViewModel</a:t>
            </a:r>
          </a:p>
          <a:p>
            <a:pPr algn="l" marL="620892" indent="-310446" lvl="1">
              <a:lnSpc>
                <a:spcPts val="4371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ViewModel → ViewController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8988" y="1248525"/>
            <a:ext cx="6674724" cy="67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3"/>
              </a:lnSpc>
            </a:pPr>
            <a:r>
              <a:rPr lang="en-US" b="true" sz="3745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LEAKS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94678" y="0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05440" y="2363956"/>
            <a:ext cx="7882627" cy="363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4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Both hold strong references.</a:t>
            </a:r>
          </a:p>
          <a:p>
            <a:pPr algn="l">
              <a:lnSpc>
                <a:spcPts val="4371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</a:t>
            </a:r>
          </a:p>
          <a:p>
            <a:pPr algn="l">
              <a:lnSpc>
                <a:spcPts val="4371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Objects never get released.</a:t>
            </a:r>
          </a:p>
          <a:p>
            <a:pPr algn="l">
              <a:lnSpc>
                <a:spcPts val="4371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  <a:p>
            <a:pPr algn="l">
              <a:lnSpc>
                <a:spcPts val="4371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Use:</a:t>
            </a:r>
          </a:p>
          <a:p>
            <a:pPr algn="l">
              <a:lnSpc>
                <a:spcPts val="4371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weak var delegate: SomeDelegate?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8115300" cy="1214819"/>
            <a:chOff x="0" y="0"/>
            <a:chExt cx="1458523" cy="218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8523" cy="218333"/>
            </a:xfrm>
            <a:custGeom>
              <a:avLst/>
              <a:gdLst/>
              <a:ahLst/>
              <a:cxnLst/>
              <a:rect r="r" b="b" t="t" l="l"/>
              <a:pathLst>
                <a:path h="218333" w="1458523">
                  <a:moveTo>
                    <a:pt x="95399" y="0"/>
                  </a:moveTo>
                  <a:lnTo>
                    <a:pt x="1363124" y="0"/>
                  </a:lnTo>
                  <a:cubicBezTo>
                    <a:pt x="1388425" y="0"/>
                    <a:pt x="1412690" y="10051"/>
                    <a:pt x="1430581" y="27942"/>
                  </a:cubicBezTo>
                  <a:cubicBezTo>
                    <a:pt x="1448472" y="45833"/>
                    <a:pt x="1458523" y="70098"/>
                    <a:pt x="1458523" y="95399"/>
                  </a:cubicBezTo>
                  <a:lnTo>
                    <a:pt x="1458523" y="122934"/>
                  </a:lnTo>
                  <a:cubicBezTo>
                    <a:pt x="1458523" y="175622"/>
                    <a:pt x="1415811" y="218333"/>
                    <a:pt x="1363124" y="218333"/>
                  </a:cubicBezTo>
                  <a:lnTo>
                    <a:pt x="95399" y="218333"/>
                  </a:lnTo>
                  <a:cubicBezTo>
                    <a:pt x="70098" y="218333"/>
                    <a:pt x="45833" y="208282"/>
                    <a:pt x="27942" y="190392"/>
                  </a:cubicBezTo>
                  <a:cubicBezTo>
                    <a:pt x="10051" y="172501"/>
                    <a:pt x="0" y="148236"/>
                    <a:pt x="0" y="122934"/>
                  </a:cubicBezTo>
                  <a:lnTo>
                    <a:pt x="0" y="95399"/>
                  </a:lnTo>
                  <a:cubicBezTo>
                    <a:pt x="0" y="42712"/>
                    <a:pt x="42712" y="0"/>
                    <a:pt x="95399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58523" cy="25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796596" y="859255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37185" y="7138880"/>
            <a:ext cx="3050815" cy="3148120"/>
          </a:xfrm>
          <a:custGeom>
            <a:avLst/>
            <a:gdLst/>
            <a:ahLst/>
            <a:cxnLst/>
            <a:rect r="r" b="b" t="t" l="l"/>
            <a:pathLst>
              <a:path h="3148120" w="3050815">
                <a:moveTo>
                  <a:pt x="0" y="0"/>
                </a:moveTo>
                <a:lnTo>
                  <a:pt x="3050815" y="0"/>
                </a:lnTo>
                <a:lnTo>
                  <a:pt x="3050815" y="3148120"/>
                </a:lnTo>
                <a:lnTo>
                  <a:pt x="0" y="3148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396467"/>
            <a:ext cx="7882627" cy="720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Purpose:</a:t>
            </a:r>
          </a:p>
          <a:p>
            <a:pPr algn="l">
              <a:lnSpc>
                <a:spcPts val="4227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 messages sent to deallocated objects.</a:t>
            </a:r>
          </a:p>
          <a:p>
            <a:pPr algn="l">
              <a:lnSpc>
                <a:spcPts val="4227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 Zombie Object?</a:t>
            </a:r>
          </a:p>
          <a:p>
            <a:pPr algn="l">
              <a:lnSpc>
                <a:spcPts val="4227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l" marL="620892" indent="-310446" lvl="1">
              <a:lnSpc>
                <a:spcPts val="4227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 deallocated</a:t>
            </a:r>
          </a:p>
          <a:p>
            <a:pPr algn="l" marL="620892" indent="-310446" lvl="1">
              <a:lnSpc>
                <a:spcPts val="4227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but code still tries to use it</a:t>
            </a:r>
          </a:p>
          <a:p>
            <a:pPr algn="l">
              <a:lnSpc>
                <a:spcPts val="4227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Normally this causes:</a:t>
            </a:r>
          </a:p>
          <a:p>
            <a:pPr algn="l" marL="944734" indent="-472367" lvl="1">
              <a:lnSpc>
                <a:spcPts val="6432"/>
              </a:lnSpc>
              <a:buFont typeface="Arial"/>
              <a:buChar char="•"/>
            </a:pPr>
            <a:r>
              <a:rPr lang="en-US" sz="4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EXC_BAD_ACCESS</a:t>
            </a:r>
          </a:p>
          <a:p>
            <a:pPr algn="l">
              <a:lnSpc>
                <a:spcPts val="4227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When Zombies are enabled, the object is kept alive as a “zombie” so the system can tell you:</a:t>
            </a:r>
          </a:p>
          <a:p>
            <a:pPr algn="l" marL="620892" indent="-310446" lvl="1">
              <a:lnSpc>
                <a:spcPts val="4227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Message sent to deallocated instance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8988" y="1248525"/>
            <a:ext cx="6674724" cy="67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3"/>
              </a:lnSpc>
            </a:pPr>
            <a:r>
              <a:rPr lang="en-US" b="true" sz="3745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ZOMBIES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76673" y="2415517"/>
            <a:ext cx="7882627" cy="606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Problem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ViewController deallocated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Timer still calling it</a:t>
            </a:r>
          </a:p>
          <a:p>
            <a:pPr algn="l">
              <a:lnSpc>
                <a:spcPts val="4026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Crash occurs.</a:t>
            </a:r>
          </a:p>
          <a:p>
            <a:pPr algn="l">
              <a:lnSpc>
                <a:spcPts val="4026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Zombie tells you exact object that was deallocated.</a:t>
            </a:r>
          </a:p>
          <a:p>
            <a:pPr algn="l">
              <a:lnSpc>
                <a:spcPts val="402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When to use Zombies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crashes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EXC_BAD_ACCESS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Release build crashes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Messaging deallocated</a:t>
            </a:r>
          </a:p>
          <a:p>
            <a:pPr algn="l">
              <a:lnSpc>
                <a:spcPts val="4026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instance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6462" y="1131738"/>
            <a:ext cx="7644983" cy="1214819"/>
            <a:chOff x="0" y="0"/>
            <a:chExt cx="1373995" cy="218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3995" cy="218333"/>
            </a:xfrm>
            <a:custGeom>
              <a:avLst/>
              <a:gdLst/>
              <a:ahLst/>
              <a:cxnLst/>
              <a:rect r="r" b="b" t="t" l="l"/>
              <a:pathLst>
                <a:path h="218333" w="1373995">
                  <a:moveTo>
                    <a:pt x="101268" y="0"/>
                  </a:moveTo>
                  <a:lnTo>
                    <a:pt x="1272727" y="0"/>
                  </a:lnTo>
                  <a:cubicBezTo>
                    <a:pt x="1328656" y="0"/>
                    <a:pt x="1373995" y="45339"/>
                    <a:pt x="1373995" y="101268"/>
                  </a:cubicBezTo>
                  <a:lnTo>
                    <a:pt x="1373995" y="117065"/>
                  </a:lnTo>
                  <a:cubicBezTo>
                    <a:pt x="1373995" y="143923"/>
                    <a:pt x="1363326" y="169681"/>
                    <a:pt x="1344334" y="188673"/>
                  </a:cubicBezTo>
                  <a:cubicBezTo>
                    <a:pt x="1325343" y="207664"/>
                    <a:pt x="1299585" y="218333"/>
                    <a:pt x="1272727" y="218333"/>
                  </a:cubicBezTo>
                  <a:lnTo>
                    <a:pt x="101268" y="218333"/>
                  </a:lnTo>
                  <a:cubicBezTo>
                    <a:pt x="74410" y="218333"/>
                    <a:pt x="48652" y="207664"/>
                    <a:pt x="29661" y="188673"/>
                  </a:cubicBezTo>
                  <a:cubicBezTo>
                    <a:pt x="10669" y="169681"/>
                    <a:pt x="0" y="143923"/>
                    <a:pt x="0" y="117065"/>
                  </a:cubicBezTo>
                  <a:lnTo>
                    <a:pt x="0" y="101268"/>
                  </a:lnTo>
                  <a:cubicBezTo>
                    <a:pt x="0" y="74410"/>
                    <a:pt x="10669" y="48652"/>
                    <a:pt x="29661" y="29661"/>
                  </a:cubicBezTo>
                  <a:cubicBezTo>
                    <a:pt x="48652" y="10669"/>
                    <a:pt x="74410" y="0"/>
                    <a:pt x="101268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73995" cy="25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029200" y="854102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16462" y="8102709"/>
            <a:ext cx="2888978" cy="2311183"/>
          </a:xfrm>
          <a:custGeom>
            <a:avLst/>
            <a:gdLst/>
            <a:ahLst/>
            <a:cxnLst/>
            <a:rect r="r" b="b" t="t" l="l"/>
            <a:pathLst>
              <a:path h="2311183" w="2888978">
                <a:moveTo>
                  <a:pt x="0" y="0"/>
                </a:moveTo>
                <a:lnTo>
                  <a:pt x="2888978" y="0"/>
                </a:lnTo>
                <a:lnTo>
                  <a:pt x="2888978" y="2311182"/>
                </a:lnTo>
                <a:lnTo>
                  <a:pt x="0" y="23111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891595" y="2575216"/>
            <a:ext cx="7882627" cy="555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Visualize object relationships in memory.</a:t>
            </a:r>
          </a:p>
          <a:p>
            <a:pPr algn="l">
              <a:lnSpc>
                <a:spcPts val="402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it helps detect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Retain cycles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references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Unexpected object retention</a:t>
            </a:r>
          </a:p>
          <a:p>
            <a:pPr algn="l">
              <a:lnSpc>
                <a:spcPts val="402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graph:</a:t>
            </a:r>
          </a:p>
          <a:p>
            <a:pPr algn="l">
              <a:lnSpc>
                <a:spcPts val="4026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ViewController → Timer → closure →            ViewController.</a:t>
            </a:r>
          </a:p>
          <a:p>
            <a:pPr algn="l">
              <a:lnSpc>
                <a:spcPts val="402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This creates a retain cycle.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1595" y="1351562"/>
            <a:ext cx="7117336" cy="67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3"/>
              </a:lnSpc>
            </a:pPr>
            <a:r>
              <a:rPr lang="en-US" b="true" sz="3745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MEMORY GRAPH DEBUGGER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572335" y="-92566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605440" y="1028700"/>
            <a:ext cx="8145174" cy="1214819"/>
            <a:chOff x="0" y="0"/>
            <a:chExt cx="1463892" cy="218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892" cy="218333"/>
            </a:xfrm>
            <a:custGeom>
              <a:avLst/>
              <a:gdLst/>
              <a:ahLst/>
              <a:cxnLst/>
              <a:rect r="r" b="b" t="t" l="l"/>
              <a:pathLst>
                <a:path h="218333" w="1463892">
                  <a:moveTo>
                    <a:pt x="95049" y="0"/>
                  </a:moveTo>
                  <a:lnTo>
                    <a:pt x="1368843" y="0"/>
                  </a:lnTo>
                  <a:cubicBezTo>
                    <a:pt x="1394051" y="0"/>
                    <a:pt x="1418227" y="10014"/>
                    <a:pt x="1436052" y="27839"/>
                  </a:cubicBezTo>
                  <a:cubicBezTo>
                    <a:pt x="1453878" y="45664"/>
                    <a:pt x="1463892" y="69841"/>
                    <a:pt x="1463892" y="95049"/>
                  </a:cubicBezTo>
                  <a:lnTo>
                    <a:pt x="1463892" y="123284"/>
                  </a:lnTo>
                  <a:cubicBezTo>
                    <a:pt x="1463892" y="148493"/>
                    <a:pt x="1453878" y="172669"/>
                    <a:pt x="1436052" y="190494"/>
                  </a:cubicBezTo>
                  <a:cubicBezTo>
                    <a:pt x="1418227" y="208319"/>
                    <a:pt x="1394051" y="218333"/>
                    <a:pt x="1368843" y="218333"/>
                  </a:cubicBezTo>
                  <a:lnTo>
                    <a:pt x="95049" y="218333"/>
                  </a:lnTo>
                  <a:cubicBezTo>
                    <a:pt x="69841" y="218333"/>
                    <a:pt x="45664" y="208319"/>
                    <a:pt x="27839" y="190494"/>
                  </a:cubicBezTo>
                  <a:cubicBezTo>
                    <a:pt x="10014" y="172669"/>
                    <a:pt x="0" y="148493"/>
                    <a:pt x="0" y="123284"/>
                  </a:cubicBezTo>
                  <a:lnTo>
                    <a:pt x="0" y="95049"/>
                  </a:lnTo>
                  <a:cubicBezTo>
                    <a:pt x="0" y="69841"/>
                    <a:pt x="10014" y="45664"/>
                    <a:pt x="27839" y="27839"/>
                  </a:cubicBezTo>
                  <a:cubicBezTo>
                    <a:pt x="45664" y="10014"/>
                    <a:pt x="69841" y="0"/>
                    <a:pt x="95049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3892" cy="25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784339" y="2575216"/>
            <a:ext cx="7882627" cy="606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 battery usage.</a:t>
            </a:r>
          </a:p>
          <a:p>
            <a:pPr algn="l">
              <a:lnSpc>
                <a:spcPts val="402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it helps detect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Excessive CPU usage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Frequent GPS updates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 usage</a:t>
            </a:r>
          </a:p>
          <a:p>
            <a:pPr algn="l" marL="620892" indent="-310446" lvl="1">
              <a:lnSpc>
                <a:spcPts val="4026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Bluetooth scanning</a:t>
            </a:r>
          </a:p>
          <a:p>
            <a:pPr algn="l">
              <a:lnSpc>
                <a:spcPts val="402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Problem:</a:t>
            </a:r>
          </a:p>
          <a:p>
            <a:pPr algn="l">
              <a:lnSpc>
                <a:spcPts val="4026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BLE scanning running continuously.</a:t>
            </a:r>
          </a:p>
          <a:p>
            <a:pPr algn="l">
              <a:lnSpc>
                <a:spcPts val="4026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Battery drains quickly.</a:t>
            </a:r>
          </a:p>
          <a:p>
            <a:pPr algn="l">
              <a:lnSpc>
                <a:spcPts val="4026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Energy log shows:</a:t>
            </a:r>
          </a:p>
          <a:p>
            <a:pPr algn="l">
              <a:lnSpc>
                <a:spcPts val="4026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energy usage from Bluetooth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01621" y="1248525"/>
            <a:ext cx="7152812" cy="67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3"/>
              </a:lnSpc>
            </a:pPr>
            <a:r>
              <a:rPr lang="en-US" b="true" sz="3745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ENERGY LOG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774221" y="2651416"/>
            <a:ext cx="0" cy="485125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6795" y="1028700"/>
            <a:ext cx="6585124" cy="1215136"/>
            <a:chOff x="0" y="0"/>
            <a:chExt cx="1349291" cy="2489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9291" cy="248981"/>
            </a:xfrm>
            <a:custGeom>
              <a:avLst/>
              <a:gdLst/>
              <a:ahLst/>
              <a:cxnLst/>
              <a:rect r="r" b="b" t="t" l="l"/>
              <a:pathLst>
                <a:path h="248981" w="1349291">
                  <a:moveTo>
                    <a:pt x="117567" y="0"/>
                  </a:moveTo>
                  <a:lnTo>
                    <a:pt x="1231724" y="0"/>
                  </a:lnTo>
                  <a:cubicBezTo>
                    <a:pt x="1296655" y="0"/>
                    <a:pt x="1349291" y="52636"/>
                    <a:pt x="1349291" y="117567"/>
                  </a:cubicBezTo>
                  <a:lnTo>
                    <a:pt x="1349291" y="131414"/>
                  </a:lnTo>
                  <a:cubicBezTo>
                    <a:pt x="1349291" y="162595"/>
                    <a:pt x="1336905" y="192499"/>
                    <a:pt x="1314856" y="214547"/>
                  </a:cubicBezTo>
                  <a:cubicBezTo>
                    <a:pt x="1292808" y="236595"/>
                    <a:pt x="1262905" y="248981"/>
                    <a:pt x="1231724" y="248981"/>
                  </a:cubicBezTo>
                  <a:lnTo>
                    <a:pt x="117567" y="248981"/>
                  </a:lnTo>
                  <a:cubicBezTo>
                    <a:pt x="86386" y="248981"/>
                    <a:pt x="56483" y="236595"/>
                    <a:pt x="34435" y="214547"/>
                  </a:cubicBezTo>
                  <a:cubicBezTo>
                    <a:pt x="12386" y="192499"/>
                    <a:pt x="0" y="162595"/>
                    <a:pt x="0" y="131414"/>
                  </a:cubicBezTo>
                  <a:lnTo>
                    <a:pt x="0" y="117567"/>
                  </a:lnTo>
                  <a:cubicBezTo>
                    <a:pt x="0" y="86386"/>
                    <a:pt x="12386" y="56483"/>
                    <a:pt x="34435" y="34435"/>
                  </a:cubicBezTo>
                  <a:cubicBezTo>
                    <a:pt x="56483" y="12386"/>
                    <a:pt x="86386" y="0"/>
                    <a:pt x="117567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49291" cy="287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110713" y="85497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00545" y="3646321"/>
            <a:ext cx="4587455" cy="2994357"/>
          </a:xfrm>
          <a:custGeom>
            <a:avLst/>
            <a:gdLst/>
            <a:ahLst/>
            <a:cxnLst/>
            <a:rect r="r" b="b" t="t" l="l"/>
            <a:pathLst>
              <a:path h="2994357" w="4587455">
                <a:moveTo>
                  <a:pt x="0" y="0"/>
                </a:moveTo>
                <a:lnTo>
                  <a:pt x="4587455" y="0"/>
                </a:lnTo>
                <a:lnTo>
                  <a:pt x="4587455" y="2994358"/>
                </a:lnTo>
                <a:lnTo>
                  <a:pt x="0" y="29943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454698"/>
            <a:ext cx="7882627" cy="625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4313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 network requests.</a:t>
            </a:r>
          </a:p>
          <a:p>
            <a:pPr algn="l">
              <a:lnSpc>
                <a:spcPts val="4313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it detects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Slow API calls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Duplicate requests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Large payloads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network usage</a:t>
            </a:r>
          </a:p>
          <a:p>
            <a:pPr algn="l">
              <a:lnSpc>
                <a:spcPts val="4313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Problem</a:t>
            </a:r>
          </a:p>
          <a:p>
            <a:pPr algn="l">
              <a:lnSpc>
                <a:spcPts val="4313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called 20 times for same screen</a:t>
            </a:r>
          </a:p>
          <a:p>
            <a:pPr algn="l">
              <a:lnSpc>
                <a:spcPts val="5513"/>
              </a:lnSpc>
            </a:pPr>
            <a:r>
              <a:rPr lang="en-US" sz="36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Network instrument reveals duplicate calls.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6174" y="1302480"/>
            <a:ext cx="5506365" cy="58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b="true" sz="3285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NETWORK INSTRUMENT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712639" y="542946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435990" y="1028700"/>
            <a:ext cx="6585124" cy="1215136"/>
            <a:chOff x="0" y="0"/>
            <a:chExt cx="1349291" cy="2489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9291" cy="248981"/>
            </a:xfrm>
            <a:custGeom>
              <a:avLst/>
              <a:gdLst/>
              <a:ahLst/>
              <a:cxnLst/>
              <a:rect r="r" b="b" t="t" l="l"/>
              <a:pathLst>
                <a:path h="248981" w="1349291">
                  <a:moveTo>
                    <a:pt x="117567" y="0"/>
                  </a:moveTo>
                  <a:lnTo>
                    <a:pt x="1231724" y="0"/>
                  </a:lnTo>
                  <a:cubicBezTo>
                    <a:pt x="1296655" y="0"/>
                    <a:pt x="1349291" y="52636"/>
                    <a:pt x="1349291" y="117567"/>
                  </a:cubicBezTo>
                  <a:lnTo>
                    <a:pt x="1349291" y="131414"/>
                  </a:lnTo>
                  <a:cubicBezTo>
                    <a:pt x="1349291" y="162595"/>
                    <a:pt x="1336905" y="192499"/>
                    <a:pt x="1314856" y="214547"/>
                  </a:cubicBezTo>
                  <a:cubicBezTo>
                    <a:pt x="1292808" y="236595"/>
                    <a:pt x="1262905" y="248981"/>
                    <a:pt x="1231724" y="248981"/>
                  </a:cubicBezTo>
                  <a:lnTo>
                    <a:pt x="117567" y="248981"/>
                  </a:lnTo>
                  <a:cubicBezTo>
                    <a:pt x="86386" y="248981"/>
                    <a:pt x="56483" y="236595"/>
                    <a:pt x="34435" y="214547"/>
                  </a:cubicBezTo>
                  <a:cubicBezTo>
                    <a:pt x="12386" y="192499"/>
                    <a:pt x="0" y="162595"/>
                    <a:pt x="0" y="131414"/>
                  </a:cubicBezTo>
                  <a:lnTo>
                    <a:pt x="0" y="117567"/>
                  </a:lnTo>
                  <a:cubicBezTo>
                    <a:pt x="0" y="86386"/>
                    <a:pt x="12386" y="56483"/>
                    <a:pt x="34435" y="34435"/>
                  </a:cubicBezTo>
                  <a:cubicBezTo>
                    <a:pt x="56483" y="12386"/>
                    <a:pt x="86386" y="0"/>
                    <a:pt x="117567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49291" cy="287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577895" y="2454698"/>
            <a:ext cx="7882627" cy="705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Purpose:</a:t>
            </a:r>
          </a:p>
          <a:p>
            <a:pPr algn="l">
              <a:lnSpc>
                <a:spcPts val="4313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 UI performance and frame rate.</a:t>
            </a:r>
          </a:p>
          <a:p>
            <a:pPr algn="l">
              <a:lnSpc>
                <a:spcPts val="4313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it detects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UI lag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dropped frames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heavy rendering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expensive UI operations</a:t>
            </a:r>
          </a:p>
          <a:p>
            <a:pPr algn="l">
              <a:lnSpc>
                <a:spcPts val="4313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Problem</a:t>
            </a:r>
          </a:p>
          <a:p>
            <a:pPr algn="l">
              <a:lnSpc>
                <a:spcPts val="4313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Scrolling a table view drops frames:</a:t>
            </a:r>
          </a:p>
          <a:p>
            <a:pPr algn="l">
              <a:lnSpc>
                <a:spcPts val="4313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60 FPS → 25 FPS</a:t>
            </a:r>
          </a:p>
          <a:p>
            <a:pPr algn="l">
              <a:lnSpc>
                <a:spcPts val="4313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Core Animation shows heavy shadow rendering.</a:t>
            </a:r>
          </a:p>
          <a:p>
            <a:pPr algn="l">
              <a:lnSpc>
                <a:spcPts val="431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975370" y="1302480"/>
            <a:ext cx="5506365" cy="58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b="true" sz="3285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CORE ANIMATION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6795" y="1028700"/>
            <a:ext cx="6585124" cy="1215136"/>
            <a:chOff x="0" y="0"/>
            <a:chExt cx="1349291" cy="2489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9291" cy="248981"/>
            </a:xfrm>
            <a:custGeom>
              <a:avLst/>
              <a:gdLst/>
              <a:ahLst/>
              <a:cxnLst/>
              <a:rect r="r" b="b" t="t" l="l"/>
              <a:pathLst>
                <a:path h="248981" w="1349291">
                  <a:moveTo>
                    <a:pt x="117567" y="0"/>
                  </a:moveTo>
                  <a:lnTo>
                    <a:pt x="1231724" y="0"/>
                  </a:lnTo>
                  <a:cubicBezTo>
                    <a:pt x="1296655" y="0"/>
                    <a:pt x="1349291" y="52636"/>
                    <a:pt x="1349291" y="117567"/>
                  </a:cubicBezTo>
                  <a:lnTo>
                    <a:pt x="1349291" y="131414"/>
                  </a:lnTo>
                  <a:cubicBezTo>
                    <a:pt x="1349291" y="162595"/>
                    <a:pt x="1336905" y="192499"/>
                    <a:pt x="1314856" y="214547"/>
                  </a:cubicBezTo>
                  <a:cubicBezTo>
                    <a:pt x="1292808" y="236595"/>
                    <a:pt x="1262905" y="248981"/>
                    <a:pt x="1231724" y="248981"/>
                  </a:cubicBezTo>
                  <a:lnTo>
                    <a:pt x="117567" y="248981"/>
                  </a:lnTo>
                  <a:cubicBezTo>
                    <a:pt x="86386" y="248981"/>
                    <a:pt x="56483" y="236595"/>
                    <a:pt x="34435" y="214547"/>
                  </a:cubicBezTo>
                  <a:cubicBezTo>
                    <a:pt x="12386" y="192499"/>
                    <a:pt x="0" y="162595"/>
                    <a:pt x="0" y="131414"/>
                  </a:cubicBezTo>
                  <a:lnTo>
                    <a:pt x="0" y="117567"/>
                  </a:lnTo>
                  <a:cubicBezTo>
                    <a:pt x="0" y="86386"/>
                    <a:pt x="12386" y="56483"/>
                    <a:pt x="34435" y="34435"/>
                  </a:cubicBezTo>
                  <a:cubicBezTo>
                    <a:pt x="56483" y="12386"/>
                    <a:pt x="86386" y="0"/>
                    <a:pt x="117567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49291" cy="287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110713" y="85497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00545" y="3646321"/>
            <a:ext cx="4587455" cy="2994357"/>
          </a:xfrm>
          <a:custGeom>
            <a:avLst/>
            <a:gdLst/>
            <a:ahLst/>
            <a:cxnLst/>
            <a:rect r="r" b="b" t="t" l="l"/>
            <a:pathLst>
              <a:path h="2994357" w="4587455">
                <a:moveTo>
                  <a:pt x="0" y="0"/>
                </a:moveTo>
                <a:lnTo>
                  <a:pt x="4587455" y="0"/>
                </a:lnTo>
                <a:lnTo>
                  <a:pt x="4587455" y="2994358"/>
                </a:lnTo>
                <a:lnTo>
                  <a:pt x="0" y="29943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454698"/>
            <a:ext cx="7407290" cy="610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</a:t>
            </a: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4313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 data races and threading issues.</a:t>
            </a:r>
          </a:p>
          <a:p>
            <a:pPr algn="l">
              <a:lnSpc>
                <a:spcPts val="4313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it detects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Multiple threads modifying same variable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Unsafe memory access</a:t>
            </a:r>
          </a:p>
          <a:p>
            <a:pPr algn="l" marL="620892" indent="-310446" lvl="1">
              <a:lnSpc>
                <a:spcPts val="4313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Race conditions</a:t>
            </a:r>
          </a:p>
          <a:p>
            <a:pPr algn="l">
              <a:lnSpc>
                <a:spcPts val="4313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Problem</a:t>
            </a:r>
          </a:p>
          <a:p>
            <a:pPr algn="l">
              <a:lnSpc>
                <a:spcPts val="4313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Thread 1 → modifies variable</a:t>
            </a:r>
          </a:p>
          <a:p>
            <a:pPr algn="l">
              <a:lnSpc>
                <a:spcPts val="4313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Thread 2 → modifies variable</a:t>
            </a:r>
          </a:p>
          <a:p>
            <a:pPr algn="l">
              <a:lnSpc>
                <a:spcPts val="5513"/>
              </a:lnSpc>
            </a:pPr>
            <a:r>
              <a:rPr lang="en-US" sz="36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 becomes unstable.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6174" y="1302480"/>
            <a:ext cx="5506365" cy="58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b="true" sz="3285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THREAD SANITIZER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712639" y="542946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435990" y="1028700"/>
            <a:ext cx="6585124" cy="1215136"/>
            <a:chOff x="0" y="0"/>
            <a:chExt cx="1349291" cy="2489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9291" cy="248981"/>
            </a:xfrm>
            <a:custGeom>
              <a:avLst/>
              <a:gdLst/>
              <a:ahLst/>
              <a:cxnLst/>
              <a:rect r="r" b="b" t="t" l="l"/>
              <a:pathLst>
                <a:path h="248981" w="1349291">
                  <a:moveTo>
                    <a:pt x="117567" y="0"/>
                  </a:moveTo>
                  <a:lnTo>
                    <a:pt x="1231724" y="0"/>
                  </a:lnTo>
                  <a:cubicBezTo>
                    <a:pt x="1296655" y="0"/>
                    <a:pt x="1349291" y="52636"/>
                    <a:pt x="1349291" y="117567"/>
                  </a:cubicBezTo>
                  <a:lnTo>
                    <a:pt x="1349291" y="131414"/>
                  </a:lnTo>
                  <a:cubicBezTo>
                    <a:pt x="1349291" y="162595"/>
                    <a:pt x="1336905" y="192499"/>
                    <a:pt x="1314856" y="214547"/>
                  </a:cubicBezTo>
                  <a:cubicBezTo>
                    <a:pt x="1292808" y="236595"/>
                    <a:pt x="1262905" y="248981"/>
                    <a:pt x="1231724" y="248981"/>
                  </a:cubicBezTo>
                  <a:lnTo>
                    <a:pt x="117567" y="248981"/>
                  </a:lnTo>
                  <a:cubicBezTo>
                    <a:pt x="86386" y="248981"/>
                    <a:pt x="56483" y="236595"/>
                    <a:pt x="34435" y="214547"/>
                  </a:cubicBezTo>
                  <a:cubicBezTo>
                    <a:pt x="12386" y="192499"/>
                    <a:pt x="0" y="162595"/>
                    <a:pt x="0" y="131414"/>
                  </a:cubicBezTo>
                  <a:lnTo>
                    <a:pt x="0" y="117567"/>
                  </a:lnTo>
                  <a:cubicBezTo>
                    <a:pt x="0" y="86386"/>
                    <a:pt x="12386" y="56483"/>
                    <a:pt x="34435" y="34435"/>
                  </a:cubicBezTo>
                  <a:cubicBezTo>
                    <a:pt x="56483" y="12386"/>
                    <a:pt x="86386" y="0"/>
                    <a:pt x="117567" y="0"/>
                  </a:cubicBezTo>
                  <a:close/>
                </a:path>
              </a:pathLst>
            </a:custGeom>
            <a:solidFill>
              <a:srgbClr val="9ED3F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49291" cy="287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577895" y="2407073"/>
            <a:ext cx="7882627" cy="546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2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Purpose:</a:t>
            </a:r>
          </a:p>
          <a:p>
            <a:pPr algn="l">
              <a:lnSpc>
                <a:spcPts val="4802"/>
              </a:lnSpc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 low-level system performance.</a:t>
            </a:r>
          </a:p>
          <a:p>
            <a:pPr algn="l">
              <a:lnSpc>
                <a:spcPts val="4802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it detects</a:t>
            </a:r>
          </a:p>
          <a:p>
            <a:pPr algn="l" marL="620892" indent="-310446" lvl="1">
              <a:lnSpc>
                <a:spcPts val="4802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CPU scheduling</a:t>
            </a:r>
          </a:p>
          <a:p>
            <a:pPr algn="l" marL="620892" indent="-310446" lvl="1">
              <a:lnSpc>
                <a:spcPts val="4802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thread blocking</a:t>
            </a:r>
          </a:p>
          <a:p>
            <a:pPr algn="l" marL="620892" indent="-310446" lvl="1">
              <a:lnSpc>
                <a:spcPts val="4802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priority inversion</a:t>
            </a:r>
          </a:p>
          <a:p>
            <a:pPr algn="l" marL="620892" indent="-310446" lvl="1">
              <a:lnSpc>
                <a:spcPts val="4802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resource usage</a:t>
            </a:r>
          </a:p>
          <a:p>
            <a:pPr algn="l">
              <a:lnSpc>
                <a:spcPts val="4802"/>
              </a:lnSpc>
            </a:pPr>
            <a:r>
              <a:rPr lang="en-US" sz="28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Mostly used in very advanced performance debugging.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75370" y="1302480"/>
            <a:ext cx="5506365" cy="58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b="true" sz="3285">
                <a:solidFill>
                  <a:srgbClr val="003F6D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TRACE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37565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02794" y="85393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12119" y="4820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1" y="0"/>
                </a:lnTo>
                <a:lnTo>
                  <a:pt x="1093321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711639"/>
            <a:ext cx="1093322" cy="1093322"/>
          </a:xfrm>
          <a:custGeom>
            <a:avLst/>
            <a:gdLst/>
            <a:ahLst/>
            <a:cxnLst/>
            <a:rect r="r" b="b" t="t" l="l"/>
            <a:pathLst>
              <a:path h="1093322" w="1093322">
                <a:moveTo>
                  <a:pt x="0" y="0"/>
                </a:moveTo>
                <a:lnTo>
                  <a:pt x="1093322" y="0"/>
                </a:lnTo>
                <a:lnTo>
                  <a:pt x="1093322" y="1093322"/>
                </a:lnTo>
                <a:lnTo>
                  <a:pt x="0" y="109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763187"/>
            <a:ext cx="3298908" cy="720141"/>
            <a:chOff x="0" y="0"/>
            <a:chExt cx="868848" cy="189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8848" cy="189667"/>
            </a:xfrm>
            <a:custGeom>
              <a:avLst/>
              <a:gdLst/>
              <a:ahLst/>
              <a:cxnLst/>
              <a:rect r="r" b="b" t="t" l="l"/>
              <a:pathLst>
                <a:path h="189667" w="868848">
                  <a:moveTo>
                    <a:pt x="94833" y="0"/>
                  </a:moveTo>
                  <a:lnTo>
                    <a:pt x="774015" y="0"/>
                  </a:lnTo>
                  <a:cubicBezTo>
                    <a:pt x="826390" y="0"/>
                    <a:pt x="868848" y="42458"/>
                    <a:pt x="868848" y="94833"/>
                  </a:cubicBezTo>
                  <a:lnTo>
                    <a:pt x="868848" y="94833"/>
                  </a:lnTo>
                  <a:cubicBezTo>
                    <a:pt x="868848" y="119985"/>
                    <a:pt x="858857" y="144106"/>
                    <a:pt x="841072" y="161891"/>
                  </a:cubicBezTo>
                  <a:cubicBezTo>
                    <a:pt x="823288" y="179675"/>
                    <a:pt x="799166" y="189667"/>
                    <a:pt x="774015" y="189667"/>
                  </a:cubicBezTo>
                  <a:lnTo>
                    <a:pt x="94833" y="189667"/>
                  </a:lnTo>
                  <a:cubicBezTo>
                    <a:pt x="69682" y="189667"/>
                    <a:pt x="45561" y="179675"/>
                    <a:pt x="27776" y="161891"/>
                  </a:cubicBezTo>
                  <a:cubicBezTo>
                    <a:pt x="9991" y="144106"/>
                    <a:pt x="0" y="119985"/>
                    <a:pt x="0" y="94833"/>
                  </a:cubicBezTo>
                  <a:lnTo>
                    <a:pt x="0" y="94833"/>
                  </a:lnTo>
                  <a:cubicBezTo>
                    <a:pt x="0" y="69682"/>
                    <a:pt x="9991" y="45561"/>
                    <a:pt x="27776" y="27776"/>
                  </a:cubicBezTo>
                  <a:cubicBezTo>
                    <a:pt x="45561" y="9991"/>
                    <a:pt x="69682" y="0"/>
                    <a:pt x="94833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68848" cy="22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90931" y="5763187"/>
            <a:ext cx="3298908" cy="720141"/>
            <a:chOff x="0" y="0"/>
            <a:chExt cx="868848" cy="18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8848" cy="189667"/>
            </a:xfrm>
            <a:custGeom>
              <a:avLst/>
              <a:gdLst/>
              <a:ahLst/>
              <a:cxnLst/>
              <a:rect r="r" b="b" t="t" l="l"/>
              <a:pathLst>
                <a:path h="189667" w="868848">
                  <a:moveTo>
                    <a:pt x="94833" y="0"/>
                  </a:moveTo>
                  <a:lnTo>
                    <a:pt x="774015" y="0"/>
                  </a:lnTo>
                  <a:cubicBezTo>
                    <a:pt x="826390" y="0"/>
                    <a:pt x="868848" y="42458"/>
                    <a:pt x="868848" y="94833"/>
                  </a:cubicBezTo>
                  <a:lnTo>
                    <a:pt x="868848" y="94833"/>
                  </a:lnTo>
                  <a:cubicBezTo>
                    <a:pt x="868848" y="119985"/>
                    <a:pt x="858857" y="144106"/>
                    <a:pt x="841072" y="161891"/>
                  </a:cubicBezTo>
                  <a:cubicBezTo>
                    <a:pt x="823288" y="179675"/>
                    <a:pt x="799166" y="189667"/>
                    <a:pt x="774015" y="189667"/>
                  </a:cubicBezTo>
                  <a:lnTo>
                    <a:pt x="94833" y="189667"/>
                  </a:lnTo>
                  <a:cubicBezTo>
                    <a:pt x="69682" y="189667"/>
                    <a:pt x="45561" y="179675"/>
                    <a:pt x="27776" y="161891"/>
                  </a:cubicBezTo>
                  <a:cubicBezTo>
                    <a:pt x="9991" y="144106"/>
                    <a:pt x="0" y="119985"/>
                    <a:pt x="0" y="94833"/>
                  </a:cubicBezTo>
                  <a:lnTo>
                    <a:pt x="0" y="94833"/>
                  </a:lnTo>
                  <a:cubicBezTo>
                    <a:pt x="0" y="69682"/>
                    <a:pt x="9991" y="45561"/>
                    <a:pt x="27776" y="27776"/>
                  </a:cubicBezTo>
                  <a:cubicBezTo>
                    <a:pt x="45561" y="9991"/>
                    <a:pt x="69682" y="0"/>
                    <a:pt x="94833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68848" cy="22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796626" y="1028700"/>
            <a:ext cx="7391677" cy="8229600"/>
          </a:xfrm>
          <a:custGeom>
            <a:avLst/>
            <a:gdLst/>
            <a:ahLst/>
            <a:cxnLst/>
            <a:rect r="r" b="b" t="t" l="l"/>
            <a:pathLst>
              <a:path h="8229600" w="7391677">
                <a:moveTo>
                  <a:pt x="0" y="0"/>
                </a:moveTo>
                <a:lnTo>
                  <a:pt x="7391677" y="0"/>
                </a:lnTo>
                <a:lnTo>
                  <a:pt x="73916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5379367"/>
            <a:ext cx="3298908" cy="1487781"/>
          </a:xfrm>
          <a:custGeom>
            <a:avLst/>
            <a:gdLst/>
            <a:ahLst/>
            <a:cxnLst/>
            <a:rect r="r" b="b" t="t" l="l"/>
            <a:pathLst>
              <a:path h="1487781" w="3298908">
                <a:moveTo>
                  <a:pt x="0" y="0"/>
                </a:moveTo>
                <a:lnTo>
                  <a:pt x="3298908" y="0"/>
                </a:lnTo>
                <a:lnTo>
                  <a:pt x="3298908" y="1487781"/>
                </a:lnTo>
                <a:lnTo>
                  <a:pt x="0" y="14877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21" r="0" b="-72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66764" y="5379367"/>
            <a:ext cx="3717597" cy="1487781"/>
          </a:xfrm>
          <a:custGeom>
            <a:avLst/>
            <a:gdLst/>
            <a:ahLst/>
            <a:cxnLst/>
            <a:rect r="r" b="b" t="t" l="l"/>
            <a:pathLst>
              <a:path h="1487781" w="3717597">
                <a:moveTo>
                  <a:pt x="0" y="0"/>
                </a:moveTo>
                <a:lnTo>
                  <a:pt x="3717597" y="0"/>
                </a:lnTo>
                <a:lnTo>
                  <a:pt x="3717597" y="1487781"/>
                </a:lnTo>
                <a:lnTo>
                  <a:pt x="0" y="14877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068" r="0" b="-106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73683" y="7077331"/>
            <a:ext cx="4707850" cy="1424125"/>
          </a:xfrm>
          <a:custGeom>
            <a:avLst/>
            <a:gdLst/>
            <a:ahLst/>
            <a:cxnLst/>
            <a:rect r="r" b="b" t="t" l="l"/>
            <a:pathLst>
              <a:path h="1424125" w="4707850">
                <a:moveTo>
                  <a:pt x="0" y="0"/>
                </a:moveTo>
                <a:lnTo>
                  <a:pt x="4707851" y="0"/>
                </a:lnTo>
                <a:lnTo>
                  <a:pt x="4707851" y="1424125"/>
                </a:lnTo>
                <a:lnTo>
                  <a:pt x="0" y="1424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2978756"/>
            <a:ext cx="8030079" cy="143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9855" b="true">
                <a:solidFill>
                  <a:srgbClr val="003F6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72462" y="4296562"/>
            <a:ext cx="4439656" cy="674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37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BY SHUBAM GUPTA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DAHEQxxvo2o</dc:identifier>
  <dcterms:modified xsi:type="dcterms:W3CDTF">2011-08-01T06:04:30Z</dcterms:modified>
  <cp:revision>1</cp:revision>
  <dc:title>Blue and White Modern Thesis Defense Presentation</dc:title>
</cp:coreProperties>
</file>